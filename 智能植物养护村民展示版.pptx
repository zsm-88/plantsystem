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开场先用一句话说明：这是一个帮助植物自动照看的小设备。</a:t>
            </a:r>
          </a:p>
          <a:p>
            <a:r>
              <a:t>不要先讲芯片和云平台，先讲它能帮大家解决什么。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这一页用生活语言讲：干、热、暗。</a:t>
            </a:r>
          </a:p>
          <a:p>
            <a:r>
              <a:t>可以问现场：大家平时养花种菜，最常遇到哪一种？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这一页可以拿设备给大家看：屏幕上显示的就是这些数字。</a:t>
            </a:r>
          </a:p>
          <a:p>
            <a:r>
              <a:t>讲的时候不要纠结单位，重点说这些数字代表植物周围的环境。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把小探头比作眼睛，村民更容易理解。</a:t>
            </a:r>
          </a:p>
          <a:p>
            <a:r>
              <a:t>可以指着设备上的探头说：这个看土，这个看温湿度，这个看光。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这一页就是自动控制逻辑，但用最朴素的话讲。</a:t>
            </a:r>
          </a:p>
          <a:p>
            <a:r>
              <a:t>如果现场能演示，可以让土壤传感器离开湿土，说明为什么水泵会启动。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这一页讲手机端，不要讲 OneNET。</a:t>
            </a:r>
          </a:p>
          <a:p>
            <a:r>
              <a:t>可以说：我们现场会打开网页，大家能看到数据，也能试着按一下开关。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这一页是互动引导。</a:t>
            </a:r>
          </a:p>
          <a:p>
            <a:r>
              <a:t>讲完后可以直接邀请：等一下大家可以过来试一试。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这里注意不要夸大成已经能替代大棚系统。</a:t>
            </a:r>
          </a:p>
          <a:p>
            <a:r>
              <a:t>可以说：我们现在展示的是小模型，目的是让大家理解智慧农业的基本方法。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这一页很重要，避免大家误解为机器可以完全代替人。</a:t>
            </a:r>
          </a:p>
          <a:p>
            <a:r>
              <a:t>强调安全用电、防潮、定期检查。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结束时邀请大家到展示台体验。</a:t>
            </a:r>
          </a:p>
          <a:p>
            <a:r>
              <a:t>这页可以作为循环播放的最后一页。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96000"/>
                </a:srgbClr>
              </a:gs>
              <a:gs pos="43000">
                <a:srgbClr val="FFFFFF">
                  <a:alpha val="88000"/>
                </a:srgbClr>
              </a:gs>
              <a:gs pos="72000">
                <a:srgbClr val="FFFFFF">
                  <a:alpha val="25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666750"/>
            <a:ext cx="3143250" cy="438150"/>
          </a:xfrm>
          <a:prstGeom prst="roundRect">
            <a:avLst>
              <a:gd name="adj" fmla="val 47826"/>
            </a:avLst>
          </a:prstGeom>
          <a:solidFill>
            <a:srgbClr val="E9F7E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F6B42"/>
                </a:solidFill>
              </a:defRPr>
            </a:pPr>
            <a:r>
              <a:rPr sz="2025" b="1">
                <a:solidFill>
                  <a:srgbClr val="1F6B42"/>
                </a:solidFill>
              </a:rPr>
              <a:t>三下乡现场科普演示</a:t>
            </a:r>
            <a:endParaRPr sz="2025" b="1">
              <a:solidFill>
                <a:srgbClr val="1F6B42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504950"/>
            <a:ext cx="5143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7342C"/>
                </a:solidFill>
              </a:defRPr>
            </a:pPr>
            <a:r>
              <a:rPr sz="4350" b="1">
                <a:solidFill>
                  <a:srgbClr val="17342C"/>
                </a:solidFill>
              </a:rPr>
              <a:t>智能植物养护</a:t>
            </a:r>
            <a:endParaRPr sz="4350" b="1">
              <a:solidFill>
                <a:srgbClr val="17342C"/>
              </a:solidFill>
            </a:endParaRPr>
          </a:p>
          <a:p>
            <a:pPr algn="l">
              <a:defRPr sz="4350" b="1">
                <a:solidFill>
                  <a:srgbClr val="17342C"/>
                </a:solidFill>
              </a:defRPr>
            </a:pPr>
            <a:r>
              <a:rPr sz="4350" b="1">
                <a:solidFill>
                  <a:srgbClr val="17342C"/>
                </a:solidFill>
              </a:rPr>
              <a:t>小帮手</a:t>
            </a:r>
            <a:endParaRPr sz="4350" b="1">
              <a:solidFill>
                <a:srgbClr val="17342C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3162300"/>
            <a:ext cx="5715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0">
                <a:solidFill>
                  <a:srgbClr val="1F6B42"/>
                </a:solidFill>
              </a:defRPr>
            </a:pPr>
            <a:r>
              <a:rPr sz="2175" b="0">
                <a:solidFill>
                  <a:srgbClr val="1F6B42"/>
                </a:solidFill>
              </a:rPr>
              <a:t>它能帮我们看湿度、看温度、看光照，</a:t>
            </a:r>
            <a:endParaRPr sz="2175" b="0">
              <a:solidFill>
                <a:srgbClr val="1F6B42"/>
              </a:solidFill>
            </a:endParaRPr>
          </a:p>
          <a:p>
            <a:pPr algn="l">
              <a:defRPr sz="2175" b="0">
                <a:solidFill>
                  <a:srgbClr val="1F6B42"/>
                </a:solidFill>
              </a:defRPr>
            </a:pPr>
            <a:r>
              <a:rPr sz="2175" b="0">
                <a:solidFill>
                  <a:srgbClr val="1F6B42"/>
                </a:solidFill>
              </a:rPr>
              <a:t>还能自动浇水、通风、补光。</a:t>
            </a:r>
            <a:endParaRPr sz="2175" b="0">
              <a:solidFill>
                <a:srgbClr val="1F6B4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56388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42C"/>
                </a:solidFill>
              </a:defRPr>
            </a:pPr>
            <a:r>
              <a:rPr sz="1875" b="1">
                <a:solidFill>
                  <a:srgbClr val="17342C"/>
                </a:solidFill>
              </a:rPr>
              <a:t>欢迎大家现场体验</a:t>
            </a:r>
            <a:endParaRPr sz="1875" b="1">
              <a:solidFill>
                <a:srgbClr val="17342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从种花种菜说起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植物最怕这三件事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很多时候不是不会种，而是没有及时发现变化。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2533650"/>
            <a:ext cx="2857500" cy="22479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椭圆 5"/>
          <p:cNvSpPr>
            <a:spLocks noGrp="1"/>
          </p:cNvSpPr>
          <p:nvPr/>
        </p:nvSpPr>
        <p:spPr>
          <a:xfrm>
            <a:off x="1962150" y="2895600"/>
            <a:ext cx="1143000" cy="1143000"/>
          </a:xfrm>
          <a:prstGeom prst="ellipse">
            <a:avLst/>
          </a:prstGeom>
          <a:solidFill>
            <a:srgbClr val="DC6B2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962150" y="314706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太干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71600" y="419100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7342C"/>
                </a:solidFill>
              </a:defRPr>
            </a:pPr>
            <a:r>
              <a:rPr sz="1875" b="1">
                <a:solidFill>
                  <a:srgbClr val="17342C"/>
                </a:solidFill>
              </a:rPr>
              <a:t>土太干，植物会蔫</a:t>
            </a:r>
            <a:endParaRPr sz="1875" b="1">
              <a:solidFill>
                <a:srgbClr val="17342C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33900" y="2533650"/>
            <a:ext cx="2857500" cy="22479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椭圆 9"/>
          <p:cNvSpPr>
            <a:spLocks noGrp="1"/>
          </p:cNvSpPr>
          <p:nvPr/>
        </p:nvSpPr>
        <p:spPr>
          <a:xfrm>
            <a:off x="5391150" y="2895600"/>
            <a:ext cx="1143000" cy="1143000"/>
          </a:xfrm>
          <a:prstGeom prst="ellipse">
            <a:avLst/>
          </a:prstGeom>
          <a:solidFill>
            <a:srgbClr val="D84F4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391150" y="314706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太热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00600" y="419100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7342C"/>
                </a:solidFill>
              </a:defRPr>
            </a:pPr>
            <a:r>
              <a:rPr sz="1875" b="1">
                <a:solidFill>
                  <a:srgbClr val="17342C"/>
                </a:solidFill>
              </a:rPr>
              <a:t>温度高，容易伤苗</a:t>
            </a:r>
            <a:endParaRPr sz="1875" b="1">
              <a:solidFill>
                <a:srgbClr val="17342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962900" y="2533650"/>
            <a:ext cx="2857500" cy="22479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椭圆 13"/>
          <p:cNvSpPr>
            <a:spLocks noGrp="1"/>
          </p:cNvSpPr>
          <p:nvPr/>
        </p:nvSpPr>
        <p:spPr>
          <a:xfrm>
            <a:off x="8820150" y="2895600"/>
            <a:ext cx="1143000" cy="1143000"/>
          </a:xfrm>
          <a:prstGeom prst="ellipse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820150" y="314706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太暗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29600" y="4191000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7342C"/>
                </a:solidFill>
              </a:defRPr>
            </a:pPr>
            <a:r>
              <a:rPr sz="1875" b="1">
                <a:solidFill>
                  <a:srgbClr val="17342C"/>
                </a:solidFill>
              </a:rPr>
              <a:t>光不够，长得慢</a:t>
            </a:r>
            <a:endParaRPr sz="1875" b="1">
              <a:solidFill>
                <a:srgbClr val="17342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266950" y="5391150"/>
            <a:ext cx="7658100" cy="552450"/>
          </a:xfrm>
          <a:prstGeom prst="roundRect">
            <a:avLst>
              <a:gd name="adj" fmla="val 37931"/>
            </a:avLst>
          </a:prstGeom>
          <a:solidFill>
            <a:srgbClr val="E9F7E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F6B42"/>
                </a:solidFill>
              </a:defRPr>
            </a:pPr>
            <a:r>
              <a:rPr sz="2025" b="1">
                <a:solidFill>
                  <a:srgbClr val="1F6B42"/>
                </a:solidFill>
              </a:rPr>
              <a:t>这个小帮手，就是帮我们早点发现这些情况。</a:t>
            </a:r>
            <a:endParaRPr sz="2025" b="1">
              <a:solidFill>
                <a:srgbClr val="1F6B42"/>
              </a:solidFill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02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它能帮我们看什么？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四个数字，一眼看懂植物环境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这些数字会显示在小屏幕和手机网页上。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914400" y="2667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椭圆 5"/>
          <p:cNvSpPr>
            <a:spLocks noGrp="1"/>
          </p:cNvSpPr>
          <p:nvPr/>
        </p:nvSpPr>
        <p:spPr>
          <a:xfrm>
            <a:off x="1695450" y="2838450"/>
            <a:ext cx="819150" cy="819150"/>
          </a:xfrm>
          <a:prstGeom prst="ellipse">
            <a:avLst/>
          </a:prstGeom>
          <a:solidFill>
            <a:srgbClr val="D84F4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695450" y="3018663"/>
            <a:ext cx="819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温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37338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342C"/>
                </a:solidFill>
              </a:defRPr>
            </a:pPr>
            <a:r>
              <a:rPr sz="1650" b="1">
                <a:solidFill>
                  <a:srgbClr val="17342C"/>
                </a:solidFill>
              </a:rPr>
              <a:t>温度</a:t>
            </a:r>
            <a:endParaRPr sz="1650" b="1">
              <a:solidFill>
                <a:srgbClr val="17342C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581400" y="2667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椭圆 9"/>
          <p:cNvSpPr>
            <a:spLocks noGrp="1"/>
          </p:cNvSpPr>
          <p:nvPr/>
        </p:nvSpPr>
        <p:spPr>
          <a:xfrm>
            <a:off x="4362450" y="2838450"/>
            <a:ext cx="819150" cy="819150"/>
          </a:xfrm>
          <a:prstGeom prst="ellipse">
            <a:avLst/>
          </a:prstGeom>
          <a:solidFill>
            <a:srgbClr val="2B7BB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62450" y="3018663"/>
            <a:ext cx="819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湿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52850" y="37338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342C"/>
                </a:solidFill>
              </a:defRPr>
            </a:pPr>
            <a:r>
              <a:rPr sz="1650" b="1">
                <a:solidFill>
                  <a:srgbClr val="17342C"/>
                </a:solidFill>
              </a:rPr>
              <a:t>空气湿度</a:t>
            </a:r>
            <a:endParaRPr sz="1650" b="1">
              <a:solidFill>
                <a:srgbClr val="17342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248400" y="2667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椭圆 13"/>
          <p:cNvSpPr>
            <a:spLocks noGrp="1"/>
          </p:cNvSpPr>
          <p:nvPr/>
        </p:nvSpPr>
        <p:spPr>
          <a:xfrm>
            <a:off x="7029450" y="2838450"/>
            <a:ext cx="819150" cy="819150"/>
          </a:xfrm>
          <a:prstGeom prst="ellipse">
            <a:avLst/>
          </a:prstGeom>
          <a:solidFill>
            <a:srgbClr val="2F8F5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29450" y="3018663"/>
            <a:ext cx="819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土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19850" y="37338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342C"/>
                </a:solidFill>
              </a:defRPr>
            </a:pPr>
            <a:r>
              <a:rPr sz="1650" b="1">
                <a:solidFill>
                  <a:srgbClr val="17342C"/>
                </a:solidFill>
              </a:rPr>
              <a:t>土壤湿度</a:t>
            </a:r>
            <a:endParaRPr sz="1650" b="1">
              <a:solidFill>
                <a:srgbClr val="17342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915400" y="2667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椭圆 17"/>
          <p:cNvSpPr>
            <a:spLocks noGrp="1"/>
          </p:cNvSpPr>
          <p:nvPr/>
        </p:nvSpPr>
        <p:spPr>
          <a:xfrm>
            <a:off x="9696450" y="2838450"/>
            <a:ext cx="819150" cy="819150"/>
          </a:xfrm>
          <a:prstGeom prst="ellipse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696450" y="3018663"/>
            <a:ext cx="819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光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086850" y="37338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342C"/>
                </a:solidFill>
              </a:defRPr>
            </a:pPr>
            <a:r>
              <a:rPr sz="1650" b="1">
                <a:solidFill>
                  <a:srgbClr val="17342C"/>
                </a:solidFill>
              </a:rPr>
              <a:t>光照强度</a:t>
            </a:r>
            <a:endParaRPr sz="1650" b="1">
              <a:solidFill>
                <a:srgbClr val="17342C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809750" y="5276850"/>
            <a:ext cx="8572500" cy="571500"/>
          </a:xfrm>
          <a:prstGeom prst="roundRect">
            <a:avLst>
              <a:gd name="adj" fmla="val 36667"/>
            </a:avLst>
          </a:prstGeom>
          <a:solidFill>
            <a:srgbClr val="EEF7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F6B42"/>
                </a:solidFill>
              </a:defRPr>
            </a:pPr>
            <a:r>
              <a:rPr sz="2025" b="1">
                <a:solidFill>
                  <a:srgbClr val="1F6B42"/>
                </a:solidFill>
              </a:rPr>
              <a:t>看懂环境，才能知道什么时候该浇水、通风、补光。</a:t>
            </a:r>
            <a:endParaRPr sz="2025" b="1">
              <a:solidFill>
                <a:srgbClr val="1F6B42"/>
              </a:solidFill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03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它像给植物装了“小眼睛”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lang="zh-CN" sz="3300" b="1">
                <a:solidFill>
                  <a:srgbClr val="17342C"/>
                </a:solidFill>
              </a:rPr>
              <a:t>传感器</a:t>
            </a:r>
            <a:r>
              <a:rPr sz="3300" b="1">
                <a:solidFill>
                  <a:srgbClr val="17342C"/>
                </a:solidFill>
              </a:rPr>
              <a:t>负责观察，设备负责提醒和动作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不用一直守在旁边，也能知道植物状态。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714500" y="4181475"/>
            <a:ext cx="1571625" cy="681038"/>
          </a:xfrm>
          <a:prstGeom prst="rect">
            <a:avLst/>
          </a:prstGeom>
          <a:solidFill>
            <a:srgbClr val="D28B45"/>
          </a:solidFill>
          <a:ln w="19050">
            <a:solidFill>
              <a:srgbClr val="9A5A24"/>
            </a:solidFill>
            <a:prstDash val="solid"/>
          </a:ln>
        </p:spPr>
      </p:sp>
      <p:sp>
        <p:nvSpPr>
          <p:cNvPr id="6" name="梯形 5"/>
          <p:cNvSpPr>
            <a:spLocks noGrp="1"/>
          </p:cNvSpPr>
          <p:nvPr/>
        </p:nvSpPr>
        <p:spPr>
          <a:xfrm>
            <a:off x="1840230" y="4810125"/>
            <a:ext cx="1320165" cy="733425"/>
          </a:xfrm>
          <a:prstGeom prst="trapezoid">
            <a:avLst/>
          </a:prstGeom>
          <a:solidFill>
            <a:srgbClr val="A56430"/>
          </a:solidFill>
          <a:ln w="19050">
            <a:solidFill>
              <a:srgbClr val="7B4320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500313" y="3186112"/>
            <a:ext cx="0" cy="995363"/>
          </a:xfrm>
          <a:prstGeom prst="line">
            <a:avLst/>
          </a:prstGeom>
          <a:noFill/>
          <a:ln w="62865">
            <a:solidFill>
              <a:srgbClr val="1F6B42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 rot="-1680000">
            <a:off x="1976438" y="3154680"/>
            <a:ext cx="775335" cy="481965"/>
          </a:xfrm>
          <a:prstGeom prst="ellipse">
            <a:avLst/>
          </a:prstGeom>
          <a:solidFill>
            <a:srgbClr val="4CAF6B"/>
          </a:solidFill>
          <a:ln w="0">
            <a:noFill/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 rot="1440000">
            <a:off x="2489835" y="3007995"/>
            <a:ext cx="838200" cy="523875"/>
          </a:xfrm>
          <a:prstGeom prst="ellipse">
            <a:avLst/>
          </a:prstGeom>
          <a:solidFill>
            <a:srgbClr val="5FC17B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 rot="-300000">
            <a:off x="2322195" y="2630805"/>
            <a:ext cx="796290" cy="523875"/>
          </a:xfrm>
          <a:prstGeom prst="ellipse">
            <a:avLst/>
          </a:prstGeom>
          <a:solidFill>
            <a:srgbClr val="76CC85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953000" y="234315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181600" y="25336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F8F57"/>
                </a:solidFill>
              </a:defRPr>
            </a:pPr>
            <a:r>
              <a:rPr sz="2100" b="1">
                <a:solidFill>
                  <a:srgbClr val="2F8F57"/>
                </a:solidFill>
              </a:rPr>
              <a:t>看土壤</a:t>
            </a:r>
            <a:endParaRPr sz="2100" b="1">
              <a:solidFill>
                <a:srgbClr val="2F8F5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181600" y="2990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土是不是干了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620000" y="234315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848600" y="25336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B7BBD"/>
                </a:solidFill>
              </a:defRPr>
            </a:pPr>
            <a:r>
              <a:rPr sz="2100" b="1">
                <a:solidFill>
                  <a:srgbClr val="2B7BBD"/>
                </a:solidFill>
              </a:rPr>
              <a:t>看空气</a:t>
            </a:r>
            <a:endParaRPr sz="2100" b="1">
              <a:solidFill>
                <a:srgbClr val="2B7BBD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848600" y="2990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温度湿度怎么样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86500" y="417195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515100" y="43624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5A524"/>
                </a:solidFill>
              </a:defRPr>
            </a:pPr>
            <a:r>
              <a:rPr sz="2100" b="1">
                <a:solidFill>
                  <a:srgbClr val="F5A524"/>
                </a:solidFill>
              </a:rPr>
              <a:t>看光照</a:t>
            </a:r>
            <a:endParaRPr sz="2100" b="1">
              <a:solidFill>
                <a:srgbClr val="F5A52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15100" y="48196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光够不够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714750" y="2914650"/>
            <a:ext cx="1238250" cy="819150"/>
          </a:xfrm>
          <a:prstGeom prst="line">
            <a:avLst/>
          </a:prstGeom>
          <a:noFill/>
          <a:ln w="38100">
            <a:solidFill>
              <a:srgbClr val="2F8F57"/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>
            <p:custDataLst>
              <p:tags r:id="rId11"/>
            </p:custDataLst>
          </p:nvPr>
        </p:nvSpPr>
        <p:spPr>
          <a:xfrm rot="5400000">
            <a:off x="4857750" y="2838450"/>
            <a:ext cx="171450" cy="152400"/>
          </a:xfrm>
          <a:prstGeom prst="triangle">
            <a:avLst/>
          </a:prstGeom>
          <a:solidFill>
            <a:srgbClr val="2F8F57"/>
          </a:solidFill>
          <a:ln w="0">
            <a:noFill/>
            <a:prstDash val="solid"/>
          </a:ln>
        </p:spPr>
      </p:sp>
      <p:sp>
        <p:nvSpPr>
          <p:cNvPr id="22" name="直接连接符 2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714750" y="2914650"/>
            <a:ext cx="3905250" cy="57150"/>
          </a:xfrm>
          <a:prstGeom prst="line">
            <a:avLst/>
          </a:prstGeom>
          <a:noFill/>
          <a:ln w="38100">
            <a:solidFill>
              <a:srgbClr val="2B7BBD"/>
            </a:solidFill>
            <a:prstDash val="solid"/>
          </a:ln>
        </p:spPr>
      </p:sp>
      <p:sp>
        <p:nvSpPr>
          <p:cNvPr id="23" name="等腰三角形 22"/>
          <p:cNvSpPr>
            <a:spLocks noGrp="1"/>
          </p:cNvSpPr>
          <p:nvPr>
            <p:custDataLst>
              <p:tags r:id="rId13"/>
            </p:custDataLst>
          </p:nvPr>
        </p:nvSpPr>
        <p:spPr>
          <a:xfrm rot="5400000">
            <a:off x="7524750" y="2838450"/>
            <a:ext cx="171450" cy="152400"/>
          </a:xfrm>
          <a:prstGeom prst="triangle">
            <a:avLst/>
          </a:prstGeom>
          <a:solidFill>
            <a:srgbClr val="2B7BBD"/>
          </a:solidFill>
          <a:ln w="0">
            <a:noFill/>
            <a:prstDash val="solid"/>
          </a:ln>
        </p:spPr>
      </p:sp>
      <p:sp>
        <p:nvSpPr>
          <p:cNvPr id="24" name="直接连接符 2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714750" y="4286250"/>
            <a:ext cx="2571750" cy="45720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</p:sp>
      <p:sp>
        <p:nvSpPr>
          <p:cNvPr id="25" name="等腰三角形 24"/>
          <p:cNvSpPr>
            <a:spLocks noGrp="1"/>
          </p:cNvSpPr>
          <p:nvPr>
            <p:custDataLst>
              <p:tags r:id="rId15"/>
            </p:custDataLst>
          </p:nvPr>
        </p:nvSpPr>
        <p:spPr>
          <a:xfrm rot="5400000">
            <a:off x="6191250" y="4667250"/>
            <a:ext cx="171450" cy="152400"/>
          </a:xfrm>
          <a:prstGeom prst="triangle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04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发现问题后，它会怎么帮忙？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三种情况，三种动作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提前设好条件，它就能自动照看。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933450" y="2495550"/>
            <a:ext cx="3048000" cy="2476500"/>
          </a:xfrm>
          <a:prstGeom prst="roundRect">
            <a:avLst>
              <a:gd name="adj" fmla="val 6923"/>
            </a:avLst>
          </a:prstGeom>
          <a:solidFill>
            <a:srgbClr val="FBFFFD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椭圆 5"/>
          <p:cNvSpPr>
            <a:spLocks noGrp="1"/>
          </p:cNvSpPr>
          <p:nvPr/>
        </p:nvSpPr>
        <p:spPr>
          <a:xfrm>
            <a:off x="1809750" y="2819400"/>
            <a:ext cx="1295400" cy="1295400"/>
          </a:xfrm>
          <a:prstGeom prst="ellipse">
            <a:avLst/>
          </a:prstGeom>
          <a:solidFill>
            <a:srgbClr val="2F8F5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809750" y="3104388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土干了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19200" y="42481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342C"/>
                </a:solidFill>
              </a:defRPr>
            </a:pPr>
            <a:r>
              <a:rPr sz="2250" b="1">
                <a:solidFill>
                  <a:srgbClr val="17342C"/>
                </a:solidFill>
              </a:rPr>
              <a:t>自动开水泵</a:t>
            </a:r>
            <a:endParaRPr sz="2250" b="1">
              <a:solidFill>
                <a:srgbClr val="17342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46482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浇一点水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0" y="2495550"/>
            <a:ext cx="3048000" cy="2476500"/>
          </a:xfrm>
          <a:prstGeom prst="roundRect">
            <a:avLst>
              <a:gd name="adj" fmla="val 6923"/>
            </a:avLst>
          </a:prstGeom>
          <a:solidFill>
            <a:srgbClr val="FBFFFD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椭圆 10"/>
          <p:cNvSpPr>
            <a:spLocks noGrp="1"/>
          </p:cNvSpPr>
          <p:nvPr/>
        </p:nvSpPr>
        <p:spPr>
          <a:xfrm>
            <a:off x="5353050" y="2819400"/>
            <a:ext cx="1295400" cy="1295400"/>
          </a:xfrm>
          <a:prstGeom prst="ellipse">
            <a:avLst/>
          </a:prstGeom>
          <a:solidFill>
            <a:srgbClr val="2B7BB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53050" y="3104388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太热了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62500" y="42481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342C"/>
                </a:solidFill>
              </a:defRPr>
            </a:pPr>
            <a:r>
              <a:rPr sz="2250" b="1">
                <a:solidFill>
                  <a:srgbClr val="17342C"/>
                </a:solidFill>
              </a:rPr>
              <a:t>自动开风扇</a:t>
            </a:r>
            <a:endParaRPr sz="2250" b="1">
              <a:solidFill>
                <a:srgbClr val="17342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38700" y="46482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帮助通风降温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20050" y="2495550"/>
            <a:ext cx="3048000" cy="2476500"/>
          </a:xfrm>
          <a:prstGeom prst="roundRect">
            <a:avLst>
              <a:gd name="adj" fmla="val 6923"/>
            </a:avLst>
          </a:prstGeom>
          <a:solidFill>
            <a:srgbClr val="FBFFFD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椭圆 15"/>
          <p:cNvSpPr>
            <a:spLocks noGrp="1"/>
          </p:cNvSpPr>
          <p:nvPr/>
        </p:nvSpPr>
        <p:spPr>
          <a:xfrm>
            <a:off x="8896350" y="2819400"/>
            <a:ext cx="1295400" cy="1295400"/>
          </a:xfrm>
          <a:prstGeom prst="ellipse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896350" y="3104388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太暗了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42481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342C"/>
                </a:solidFill>
              </a:defRPr>
            </a:pPr>
            <a:r>
              <a:rPr sz="2250" b="1">
                <a:solidFill>
                  <a:srgbClr val="17342C"/>
                </a:solidFill>
              </a:rPr>
              <a:t>自动开补光灯</a:t>
            </a:r>
            <a:endParaRPr sz="2250" b="1">
              <a:solidFill>
                <a:srgbClr val="17342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0" y="46482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给植物补光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05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手机上能看到什么？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不在旁边，也能看状态、按开关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网页可以在手机或电脑上打开。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123950" y="2305050"/>
            <a:ext cx="3429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383">
            <a:solidFill>
              <a:srgbClr val="CADFD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676400" y="26098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1F6B42"/>
                </a:solidFill>
              </a:defRPr>
            </a:pPr>
            <a:r>
              <a:rPr sz="2400" b="1">
                <a:solidFill>
                  <a:srgbClr val="1F6B42"/>
                </a:solidFill>
              </a:rPr>
              <a:t>手机网页</a:t>
            </a:r>
            <a:endParaRPr sz="2400" b="1">
              <a:solidFill>
                <a:srgbClr val="1F6B4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19250" y="3257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42C"/>
                </a:solidFill>
              </a:defRPr>
            </a:pPr>
            <a:r>
              <a:rPr sz="1650" b="0">
                <a:solidFill>
                  <a:srgbClr val="17342C"/>
                </a:solidFill>
              </a:rPr>
              <a:t>温度  26℃</a:t>
            </a:r>
            <a:endParaRPr sz="1650" b="0">
              <a:solidFill>
                <a:srgbClr val="17342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619250" y="3600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42C"/>
                </a:solidFill>
              </a:defRPr>
            </a:pPr>
            <a:r>
              <a:rPr sz="1650" b="0">
                <a:solidFill>
                  <a:srgbClr val="17342C"/>
                </a:solidFill>
              </a:rPr>
              <a:t>土壤湿度  45%</a:t>
            </a:r>
            <a:endParaRPr sz="1650" b="0">
              <a:solidFill>
                <a:srgbClr val="17342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19250" y="3943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42C"/>
                </a:solidFill>
              </a:defRPr>
            </a:pPr>
            <a:r>
              <a:rPr sz="1650" b="0">
                <a:solidFill>
                  <a:srgbClr val="17342C"/>
                </a:solidFill>
              </a:rPr>
              <a:t>光照  320</a:t>
            </a:r>
            <a:endParaRPr sz="1650" b="0">
              <a:solidFill>
                <a:srgbClr val="17342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19250" y="4286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42C"/>
                </a:solidFill>
              </a:defRPr>
            </a:pPr>
            <a:r>
              <a:rPr sz="1650" b="0">
                <a:solidFill>
                  <a:srgbClr val="17342C"/>
                </a:solidFill>
              </a:rPr>
              <a:t>风扇  关</a:t>
            </a:r>
            <a:endParaRPr sz="1650" b="0">
              <a:solidFill>
                <a:srgbClr val="17342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19250" y="4629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342C"/>
                </a:solidFill>
              </a:defRPr>
            </a:pPr>
            <a:r>
              <a:rPr sz="1650" b="0">
                <a:solidFill>
                  <a:srgbClr val="17342C"/>
                </a:solidFill>
              </a:rPr>
              <a:t>水泵  关</a:t>
            </a:r>
            <a:endParaRPr sz="1650" b="0">
              <a:solidFill>
                <a:srgbClr val="17342C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5810250" y="2647950"/>
            <a:ext cx="171450" cy="171450"/>
          </a:xfrm>
          <a:prstGeom prst="ellipse">
            <a:avLst/>
          </a:prstGeom>
          <a:solidFill>
            <a:srgbClr val="2F8F57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53150" y="25717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看当前数据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5810250" y="3409950"/>
            <a:ext cx="171450" cy="171450"/>
          </a:xfrm>
          <a:prstGeom prst="ellipse">
            <a:avLst/>
          </a:prstGeom>
          <a:solidFill>
            <a:srgbClr val="2B7BB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53150" y="33337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远程开关风扇、水泵、补光灯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5810250" y="4171950"/>
            <a:ext cx="171450" cy="171450"/>
          </a:xfrm>
          <a:prstGeom prst="ellipse">
            <a:avLst/>
          </a:prstGeom>
          <a:solidFill>
            <a:srgbClr val="DC6B2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53150" y="40957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手动控制后，也可以恢复自动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334000" y="5219700"/>
            <a:ext cx="5715000" cy="552450"/>
          </a:xfrm>
          <a:prstGeom prst="roundRect">
            <a:avLst>
              <a:gd name="adj" fmla="val 37931"/>
            </a:avLst>
          </a:prstGeom>
          <a:solidFill>
            <a:srgbClr val="EEF7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F6B42"/>
                </a:solidFill>
              </a:defRPr>
            </a:pPr>
            <a:r>
              <a:rPr sz="2025" b="1">
                <a:solidFill>
                  <a:srgbClr val="1F6B42"/>
                </a:solidFill>
              </a:rPr>
              <a:t>一句话：手机就像植物的“远程看护窗口”。</a:t>
            </a:r>
            <a:endParaRPr sz="2025" b="1">
              <a:solidFill>
                <a:srgbClr val="1F6B42"/>
              </a:solidFill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06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现场大家怎么体验？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四步就能试一试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我们会在旁边协助操作。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椭圆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714500" y="2571750"/>
            <a:ext cx="1123950" cy="1123950"/>
          </a:xfrm>
          <a:prstGeom prst="ellipse">
            <a:avLst/>
          </a:prstGeom>
          <a:solidFill>
            <a:srgbClr val="2F8F5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714500" y="2819019"/>
            <a:ext cx="11239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1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943225" y="3133725"/>
            <a:ext cx="657225" cy="0"/>
          </a:xfrm>
          <a:prstGeom prst="line">
            <a:avLst/>
          </a:prstGeom>
          <a:noFill/>
          <a:ln w="38100">
            <a:solidFill>
              <a:srgbClr val="8FBAA0"/>
            </a:solidFill>
            <a:prstDash val="solid"/>
          </a:ln>
        </p:spPr>
      </p:sp>
      <p:sp>
        <p:nvSpPr>
          <p:cNvPr id="8" name="等腰三角形 7"/>
          <p:cNvSpPr>
            <a:spLocks noGrp="1"/>
          </p:cNvSpPr>
          <p:nvPr>
            <p:custDataLst>
              <p:tags r:id="rId4"/>
            </p:custDataLst>
          </p:nvPr>
        </p:nvSpPr>
        <p:spPr>
          <a:xfrm rot="5400000">
            <a:off x="3505200" y="3057525"/>
            <a:ext cx="171450" cy="152400"/>
          </a:xfrm>
          <a:prstGeom prst="triangle">
            <a:avLst/>
          </a:prstGeom>
          <a:solidFill>
            <a:srgbClr val="8FBAA0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90600" y="39433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7342C"/>
                </a:solidFill>
              </a:defRPr>
            </a:pPr>
            <a:r>
              <a:rPr sz="2325" b="1">
                <a:solidFill>
                  <a:srgbClr val="17342C"/>
                </a:solidFill>
              </a:rPr>
              <a:t>看设备</a:t>
            </a:r>
            <a:endParaRPr sz="2325" b="1">
              <a:solidFill>
                <a:srgbClr val="17342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90600" y="4457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认识</a:t>
            </a:r>
            <a:r>
              <a:rPr lang="zh-CN" sz="1650" b="0">
                <a:solidFill>
                  <a:srgbClr val="53655E"/>
                </a:solidFill>
              </a:rPr>
              <a:t>传感器</a:t>
            </a:r>
            <a:r>
              <a:rPr sz="1650" b="0">
                <a:solidFill>
                  <a:srgbClr val="53655E"/>
                </a:solidFill>
              </a:rPr>
              <a:t>和小屏幕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476750" y="2571750"/>
            <a:ext cx="1123950" cy="1123950"/>
          </a:xfrm>
          <a:prstGeom prst="ellipse">
            <a:avLst/>
          </a:prstGeom>
          <a:solidFill>
            <a:srgbClr val="2B7BB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476750" y="2819019"/>
            <a:ext cx="11239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2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705475" y="3133725"/>
            <a:ext cx="657225" cy="0"/>
          </a:xfrm>
          <a:prstGeom prst="line">
            <a:avLst/>
          </a:prstGeom>
          <a:noFill/>
          <a:ln w="38100">
            <a:solidFill>
              <a:srgbClr val="8FBAA0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>
            <p:custDataLst>
              <p:tags r:id="rId10"/>
            </p:custDataLst>
          </p:nvPr>
        </p:nvSpPr>
        <p:spPr>
          <a:xfrm rot="5400000">
            <a:off x="6267450" y="3057525"/>
            <a:ext cx="171450" cy="152400"/>
          </a:xfrm>
          <a:prstGeom prst="triangle">
            <a:avLst/>
          </a:prstGeom>
          <a:solidFill>
            <a:srgbClr val="8FBAA0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752850" y="39433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7342C"/>
                </a:solidFill>
              </a:defRPr>
            </a:pPr>
            <a:r>
              <a:rPr sz="2325" b="1">
                <a:solidFill>
                  <a:srgbClr val="17342C"/>
                </a:solidFill>
              </a:rPr>
              <a:t>看手机</a:t>
            </a:r>
            <a:endParaRPr sz="2325" b="1">
              <a:solidFill>
                <a:srgbClr val="17342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752850" y="4457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打开网页看数据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7" name="椭圆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239000" y="2571750"/>
            <a:ext cx="1123950" cy="1123950"/>
          </a:xfrm>
          <a:prstGeom prst="ellipse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239000" y="2819019"/>
            <a:ext cx="11239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3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19" name="直接连接符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467725" y="3133725"/>
            <a:ext cx="657225" cy="0"/>
          </a:xfrm>
          <a:prstGeom prst="line">
            <a:avLst/>
          </a:prstGeom>
          <a:noFill/>
          <a:ln w="38100">
            <a:solidFill>
              <a:srgbClr val="8FBAA0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>
            <p:custDataLst>
              <p:tags r:id="rId16"/>
            </p:custDataLst>
          </p:nvPr>
        </p:nvSpPr>
        <p:spPr>
          <a:xfrm rot="5400000">
            <a:off x="9029700" y="3057525"/>
            <a:ext cx="171450" cy="152400"/>
          </a:xfrm>
          <a:prstGeom prst="triangle">
            <a:avLst/>
          </a:prstGeom>
          <a:solidFill>
            <a:srgbClr val="8FBAA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515100" y="39433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7342C"/>
                </a:solidFill>
              </a:defRPr>
            </a:pPr>
            <a:r>
              <a:rPr sz="2325" b="1">
                <a:solidFill>
                  <a:srgbClr val="17342C"/>
                </a:solidFill>
              </a:rPr>
              <a:t>按开关</a:t>
            </a:r>
            <a:endParaRPr sz="2325" b="1">
              <a:solidFill>
                <a:srgbClr val="17342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515100" y="4457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试试风扇、水泵、灯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0001250" y="2571750"/>
            <a:ext cx="1123950" cy="1123950"/>
          </a:xfrm>
          <a:prstGeom prst="ellipse">
            <a:avLst/>
          </a:prstGeom>
          <a:solidFill>
            <a:srgbClr val="DC6B2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0001250" y="2819019"/>
            <a:ext cx="11239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4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9277350" y="39433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7342C"/>
                </a:solidFill>
              </a:defRPr>
            </a:pPr>
            <a:r>
              <a:rPr sz="2325" b="1">
                <a:solidFill>
                  <a:srgbClr val="17342C"/>
                </a:solidFill>
              </a:rPr>
              <a:t>看变化</a:t>
            </a:r>
            <a:endParaRPr sz="2325" b="1">
              <a:solidFill>
                <a:srgbClr val="17342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9277350" y="4457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观察设备有没有动作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562350" y="5429250"/>
            <a:ext cx="5048250" cy="552450"/>
          </a:xfrm>
          <a:prstGeom prst="roundRect">
            <a:avLst>
              <a:gd name="adj" fmla="val 37931"/>
            </a:avLst>
          </a:prstGeom>
          <a:solidFill>
            <a:srgbClr val="E9F7E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F6B42"/>
                </a:solidFill>
              </a:defRPr>
            </a:pPr>
            <a:r>
              <a:rPr sz="2025" b="1">
                <a:solidFill>
                  <a:srgbClr val="1F6B42"/>
                </a:solidFill>
              </a:rPr>
              <a:t>不用懂技术，也可以亲手试。</a:t>
            </a:r>
            <a:endParaRPr sz="2025" b="1">
              <a:solidFill>
                <a:srgbClr val="1F6B42"/>
              </a:solidFill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07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它适合用在哪里？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从一盆花到一个小棚，都能作为参考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现在展示的是小模型，原理可以继续放大。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276350" y="2381250"/>
            <a:ext cx="4476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581150" y="25908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F6B42"/>
                </a:solidFill>
              </a:defRPr>
            </a:pPr>
            <a:r>
              <a:rPr sz="2325" b="1">
                <a:solidFill>
                  <a:srgbClr val="1F6B42"/>
                </a:solidFill>
              </a:rPr>
              <a:t>家里盆栽</a:t>
            </a:r>
            <a:endParaRPr sz="2325" b="1">
              <a:solidFill>
                <a:srgbClr val="1F6B4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81150" y="30670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忘记浇水时帮忙提醒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438900" y="2381250"/>
            <a:ext cx="4476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6743700" y="25908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B7BBD"/>
                </a:solidFill>
              </a:defRPr>
            </a:pPr>
            <a:r>
              <a:rPr sz="2325" b="1">
                <a:solidFill>
                  <a:srgbClr val="2B7BBD"/>
                </a:solidFill>
              </a:rPr>
              <a:t>阳台种菜</a:t>
            </a:r>
            <a:endParaRPr sz="2325" b="1">
              <a:solidFill>
                <a:srgbClr val="2B7BB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43700" y="30670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看湿度、看光照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276350" y="4095750"/>
            <a:ext cx="4476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581150" y="43053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DC6B2F"/>
                </a:solidFill>
              </a:defRPr>
            </a:pPr>
            <a:r>
              <a:rPr sz="2325" b="1">
                <a:solidFill>
                  <a:srgbClr val="DC6B2F"/>
                </a:solidFill>
              </a:rPr>
              <a:t>小型温室</a:t>
            </a:r>
            <a:endParaRPr sz="2325" b="1">
              <a:solidFill>
                <a:srgbClr val="DC6B2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81150" y="47815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辅助通风、补光、灌溉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438900" y="4095750"/>
            <a:ext cx="447675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383">
            <a:solidFill>
              <a:srgbClr val="D8EA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743700" y="43053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D84F45"/>
                </a:solidFill>
              </a:defRPr>
            </a:pPr>
            <a:r>
              <a:rPr sz="2325" b="1">
                <a:solidFill>
                  <a:srgbClr val="D84F45"/>
                </a:solidFill>
              </a:rPr>
              <a:t>教学展示</a:t>
            </a:r>
            <a:endParaRPr sz="2325" b="1">
              <a:solidFill>
                <a:srgbClr val="D84F4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43700" y="47815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3655E"/>
                </a:solidFill>
              </a:defRPr>
            </a:pPr>
            <a:r>
              <a:rPr sz="1650" b="0">
                <a:solidFill>
                  <a:srgbClr val="53655E"/>
                </a:solidFill>
              </a:rPr>
              <a:t>让孩子了解智慧农业</a:t>
            </a:r>
            <a:endParaRPr sz="1650" b="0">
              <a:solidFill>
                <a:srgbClr val="53655E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08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使用时要注意什么？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机器能帮忙，但也需要人检查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0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3655E"/>
                </a:solidFill>
              </a:defRPr>
            </a:pPr>
            <a:r>
              <a:rPr sz="1725" b="0">
                <a:solidFill>
                  <a:srgbClr val="53655E"/>
                </a:solidFill>
              </a:rPr>
              <a:t>智能设备是助手，不是完全不用管。</a:t>
            </a:r>
            <a:endParaRPr sz="1725" b="0">
              <a:solidFill>
                <a:srgbClr val="53655E"/>
              </a:solidFill>
            </a:endParaR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1905000" y="2552700"/>
            <a:ext cx="171450" cy="171450"/>
          </a:xfrm>
          <a:prstGeom prst="ellipse">
            <a:avLst/>
          </a:prstGeom>
          <a:solidFill>
            <a:srgbClr val="2F8F5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247900" y="24765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水泵不要长时间空转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905000" y="3409950"/>
            <a:ext cx="171450" cy="171450"/>
          </a:xfrm>
          <a:prstGeom prst="ellipse">
            <a:avLst/>
          </a:prstGeom>
          <a:solidFill>
            <a:srgbClr val="2B7BB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247900" y="33337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电源和线路要防潮、防碰撞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905000" y="4267200"/>
            <a:ext cx="171450" cy="171450"/>
          </a:xfrm>
          <a:prstGeom prst="ellipse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247900" y="41910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传感器要定期擦一擦、看一看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905000" y="5124450"/>
            <a:ext cx="171450" cy="171450"/>
          </a:xfrm>
          <a:prstGeom prst="ellipse">
            <a:avLst/>
          </a:prstGeom>
          <a:solidFill>
            <a:srgbClr val="DC6B2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247900" y="50482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植物情况还要结合人的经验判断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09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FF9"/>
            </a:gs>
            <a:gs pos="58000">
              <a:srgbClr val="E7F4EC"/>
            </a:gs>
            <a:gs pos="100000">
              <a:srgbClr val="FFFFFF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457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F8F57"/>
                </a:solidFill>
              </a:defRPr>
            </a:pPr>
            <a:r>
              <a:rPr sz="1425" b="1">
                <a:solidFill>
                  <a:srgbClr val="2F8F57"/>
                </a:solidFill>
              </a:rPr>
              <a:t>欢迎大家现场试一试</a:t>
            </a:r>
            <a:endParaRPr sz="1425" b="1">
              <a:solidFill>
                <a:srgbClr val="2F8F5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763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342C"/>
                </a:solidFill>
              </a:defRPr>
            </a:pPr>
            <a:r>
              <a:rPr sz="3300" b="1">
                <a:solidFill>
                  <a:srgbClr val="17342C"/>
                </a:solidFill>
              </a:rPr>
              <a:t>看看植物的“小帮手”怎么工作</a:t>
            </a:r>
            <a:endParaRPr sz="3300" b="1">
              <a:solidFill>
                <a:srgbClr val="17342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381250" y="4262438"/>
            <a:ext cx="1500188" cy="650081"/>
          </a:xfrm>
          <a:prstGeom prst="rect">
            <a:avLst/>
          </a:prstGeom>
          <a:solidFill>
            <a:srgbClr val="D28B45"/>
          </a:solidFill>
          <a:ln w="19050">
            <a:solidFill>
              <a:srgbClr val="9A5A24"/>
            </a:solidFill>
            <a:prstDash val="solid"/>
          </a:ln>
        </p:spPr>
      </p:sp>
      <p:sp>
        <p:nvSpPr>
          <p:cNvPr id="5" name="梯形 4"/>
          <p:cNvSpPr>
            <a:spLocks noGrp="1"/>
          </p:cNvSpPr>
          <p:nvPr/>
        </p:nvSpPr>
        <p:spPr>
          <a:xfrm>
            <a:off x="2501265" y="4862513"/>
            <a:ext cx="1260158" cy="700088"/>
          </a:xfrm>
          <a:prstGeom prst="trapezoid">
            <a:avLst/>
          </a:prstGeom>
          <a:solidFill>
            <a:srgbClr val="A56430"/>
          </a:solidFill>
          <a:ln w="19050">
            <a:solidFill>
              <a:srgbClr val="7B4320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3131344" y="3312319"/>
            <a:ext cx="0" cy="950119"/>
          </a:xfrm>
          <a:prstGeom prst="line">
            <a:avLst/>
          </a:prstGeom>
          <a:noFill/>
          <a:ln w="60008">
            <a:solidFill>
              <a:srgbClr val="1F6B42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 rot="-1680000">
            <a:off x="2631281" y="3282315"/>
            <a:ext cx="740093" cy="460058"/>
          </a:xfrm>
          <a:prstGeom prst="ellipse">
            <a:avLst/>
          </a:prstGeom>
          <a:solidFill>
            <a:srgbClr val="4CAF6B"/>
          </a:solidFill>
          <a:ln w="0">
            <a:noFill/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 rot="1440000">
            <a:off x="3121343" y="3142298"/>
            <a:ext cx="800100" cy="500063"/>
          </a:xfrm>
          <a:prstGeom prst="ellipse">
            <a:avLst/>
          </a:prstGeom>
          <a:solidFill>
            <a:srgbClr val="5FC17B"/>
          </a:solidFill>
          <a:ln w="0">
            <a:noFill/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 rot="-300000">
            <a:off x="2961323" y="2782253"/>
            <a:ext cx="760095" cy="500063"/>
          </a:xfrm>
          <a:prstGeom prst="ellipse">
            <a:avLst/>
          </a:prstGeom>
          <a:solidFill>
            <a:srgbClr val="76CC85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429250" y="25336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7342C"/>
                </a:solidFill>
              </a:defRPr>
            </a:pPr>
            <a:r>
              <a:rPr sz="2400" b="1">
                <a:solidFill>
                  <a:srgbClr val="17342C"/>
                </a:solidFill>
              </a:rPr>
              <a:t>等一下可以到我们的展示台：</a:t>
            </a:r>
            <a:endParaRPr sz="2400" b="1">
              <a:solidFill>
                <a:srgbClr val="17342C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619750" y="3314700"/>
            <a:ext cx="171450" cy="171450"/>
          </a:xfrm>
          <a:prstGeom prst="ellipse">
            <a:avLst/>
          </a:prstGeom>
          <a:solidFill>
            <a:srgbClr val="2F8F57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62650" y="32385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看小屏幕上的数据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5619750" y="4076700"/>
            <a:ext cx="171450" cy="171450"/>
          </a:xfrm>
          <a:prstGeom prst="ellipse">
            <a:avLst/>
          </a:prstGeom>
          <a:solidFill>
            <a:srgbClr val="2B7BB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962650" y="40005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用手机试试远程开关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5619750" y="4838700"/>
            <a:ext cx="171450" cy="171450"/>
          </a:xfrm>
          <a:prstGeom prst="ellipse">
            <a:avLst/>
          </a:prstGeom>
          <a:solidFill>
            <a:srgbClr val="DC6B2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62650" y="47625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42C"/>
                </a:solidFill>
              </a:defRPr>
            </a:pPr>
            <a:r>
              <a:rPr sz="2100" b="1">
                <a:solidFill>
                  <a:srgbClr val="17342C"/>
                </a:solidFill>
              </a:rPr>
              <a:t>问一问设备怎么搭起来</a:t>
            </a:r>
            <a:endParaRPr sz="2100" b="1">
              <a:solidFill>
                <a:srgbClr val="17342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476500" y="5810250"/>
            <a:ext cx="7239000" cy="533400"/>
          </a:xfrm>
          <a:prstGeom prst="roundRect">
            <a:avLst>
              <a:gd name="adj" fmla="val 39286"/>
            </a:avLst>
          </a:prstGeom>
          <a:solidFill>
            <a:srgbClr val="E9F7E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F6B42"/>
                </a:solidFill>
              </a:defRPr>
            </a:pPr>
            <a:r>
              <a:rPr sz="2025" b="1">
                <a:solidFill>
                  <a:srgbClr val="1F6B42"/>
                </a:solidFill>
              </a:rPr>
              <a:t>科技助农，从一次看得懂的体验开始。</a:t>
            </a:r>
            <a:endParaRPr sz="2025" b="1">
              <a:solidFill>
                <a:srgbClr val="1F6B42"/>
              </a:solidFill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23900" y="6438900"/>
            <a:ext cx="10744200" cy="0"/>
          </a:xfrm>
          <a:prstGeom prst="line">
            <a:avLst/>
          </a:prstGeom>
          <a:noFill/>
          <a:ln w="9525">
            <a:solidFill>
              <a:srgbClr val="DCEBE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6553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D8177"/>
                </a:solidFill>
              </a:defRPr>
            </a:pPr>
            <a:r>
              <a:rPr sz="900" b="0">
                <a:solidFill>
                  <a:srgbClr val="6D8177"/>
                </a:solidFill>
              </a:rPr>
              <a:t>三下乡现场科普演示 · 智能植物养护小帮手</a:t>
            </a:r>
            <a:endParaRPr sz="900" b="0">
              <a:solidFill>
                <a:srgbClr val="6D817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953750" y="65151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F8F57"/>
                </a:solidFill>
              </a:defRPr>
            </a:pPr>
            <a:r>
              <a:rPr sz="975" b="1">
                <a:solidFill>
                  <a:srgbClr val="2F8F57"/>
                </a:solidFill>
              </a:rPr>
              <a:t>10</a:t>
            </a:r>
            <a:endParaRPr sz="975" b="1">
              <a:solidFill>
                <a:srgbClr val="2F8F57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2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3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4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5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6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7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8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9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10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11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12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13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14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15.xml><?xml version="1.0" encoding="utf-8"?>
<p:tagLst xmlns:p="http://schemas.openxmlformats.org/presentationml/2006/main">
  <p:tag name="KSO_WM_DIAGRAM_VIRTUALLY_FRAME" val="{&quot;height&quot;:234,&quot;left&quot;:292.5,&quot;top&quot;:184.5,&quot;width&quot;:540}"/>
</p:tagLst>
</file>

<file path=ppt/tags/tag16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17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18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19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0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1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2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3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4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5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6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7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8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29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0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1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2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3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4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5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6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ags/tag37.xml><?xml version="1.0" encoding="utf-8"?>
<p:tagLst xmlns:p="http://schemas.openxmlformats.org/presentationml/2006/main">
  <p:tag name="KSO_WM_DIAGRAM_VIRTUALLY_FRAME" val="{&quot;height&quot;:175.5,&quot;left&quot;:78,&quot;top&quot;:202.5,&quot;width&quot;:85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1054</Words>
  <Application>WPS 演示</Application>
  <PresentationFormat>Converted Presentation</PresentationFormat>
  <Paragraphs>240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zzz</cp:lastModifiedBy>
  <cp:revision>1</cp:revision>
  <dcterms:created xsi:type="dcterms:W3CDTF">2026-07-07T13:49:10Z</dcterms:created>
  <dcterms:modified xsi:type="dcterms:W3CDTF">2026-07-07T13:49:10Z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4F0BF2C1F028476CA50936137115722D_12</vt:lpwstr>
  </property>
</Properties>
</file>